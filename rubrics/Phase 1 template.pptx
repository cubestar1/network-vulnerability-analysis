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6" r:id="rId9"/>
    <p:sldId id="267" r:id="rId10"/>
    <p:sldId id="274" r:id="rId11"/>
    <p:sldId id="268" r:id="rId12"/>
    <p:sldId id="269" r:id="rId13"/>
    <p:sldId id="272" r:id="rId14"/>
    <p:sldId id="273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DB4E47-8EFA-407C-89F8-463265A3EB86}">
  <a:tblStyle styleId="{4EDB4E47-8EFA-407C-89F8-463265A3EB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37"/>
  </p:normalViewPr>
  <p:slideViewPr>
    <p:cSldViewPr snapToGrid="0">
      <p:cViewPr varScale="1">
        <p:scale>
          <a:sx n="104" d="100"/>
          <a:sy n="104" d="100"/>
        </p:scale>
        <p:origin x="85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73bf52533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3273bf52533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73bf5253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3273bf5253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73bf52533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273bf52533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73bf52533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273bf52533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73bf5253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273bf52533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73bf5253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273bf5253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31B3F3CE-751E-C7E0-0EA8-809E8E186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73bf52533_0_14:notes">
            <a:extLst>
              <a:ext uri="{FF2B5EF4-FFF2-40B4-BE49-F238E27FC236}">
                <a16:creationId xmlns:a16="http://schemas.microsoft.com/office/drawing/2014/main" id="{2E7166B7-63AD-F794-5C46-37AC251D29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273bf52533_0_14:notes">
            <a:extLst>
              <a:ext uri="{FF2B5EF4-FFF2-40B4-BE49-F238E27FC236}">
                <a16:creationId xmlns:a16="http://schemas.microsoft.com/office/drawing/2014/main" id="{C6E77F38-84AA-C8AF-2363-C45F8881A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477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73bf5253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273bf5253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73bf5253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273bf5253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3cb459f0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33cb459f0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3cb459f0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33cb459f06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96725" y="1120876"/>
            <a:ext cx="8001300" cy="384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70C0"/>
                </a:solidFill>
              </a:rPr>
              <a:t>Experiential Learning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70C0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Phase-I</a:t>
            </a:r>
            <a:endParaRPr sz="2400" b="1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0000"/>
                </a:solidFill>
              </a:rPr>
              <a:t>Title 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Student names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usns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146756" y="968910"/>
            <a:ext cx="8884356" cy="401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Topic </a:t>
            </a:r>
          </a:p>
          <a:p>
            <a:pPr>
              <a:lnSpc>
                <a:spcPct val="150000"/>
              </a:lnSpc>
              <a:buClr>
                <a:schemeClr val="dk1"/>
              </a:buClr>
              <a:buFont typeface="Times New Roman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relevance to courses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identification in relevant area/topic</a:t>
            </a:r>
            <a:endParaRPr lang="en-US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Formulation 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913106" y="445025"/>
            <a:ext cx="691919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1862667" y="164550"/>
            <a:ext cx="5012266" cy="80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>
                <a:latin typeface="Times New Roman"/>
                <a:cs typeface="Times New Roman"/>
                <a:sym typeface="Times New Roman"/>
              </a:rPr>
              <a:t>Introduction to Topic </a:t>
            </a:r>
            <a:b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146756" y="968910"/>
            <a:ext cx="8884356" cy="401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endParaRPr lang="en-US" sz="15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endParaRPr lang="en-IN" sz="15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endParaRPr lang="en-IN" sz="15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endParaRPr sz="15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1862667" y="16455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400" b="1" dirty="0">
                <a:latin typeface="Times New Roman"/>
                <a:cs typeface="Times New Roman"/>
                <a:sym typeface="Times New Roman"/>
              </a:rPr>
              <a:t>Topic relevance to courses</a:t>
            </a:r>
            <a:b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146756" y="9689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1862667" y="16455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129756" y="96886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1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2" name="Google Shape;92;p19"/>
          <p:cNvGraphicFramePr/>
          <p:nvPr>
            <p:extLst>
              <p:ext uri="{D42A27DB-BD31-4B8C-83A1-F6EECF244321}">
                <p14:modId xmlns:p14="http://schemas.microsoft.com/office/powerpoint/2010/main" val="1219305614"/>
              </p:ext>
            </p:extLst>
          </p:nvPr>
        </p:nvGraphicFramePr>
        <p:xfrm>
          <a:off x="263700" y="1222025"/>
          <a:ext cx="8589726" cy="503025"/>
        </p:xfrm>
        <a:graphic>
          <a:graphicData uri="http://schemas.openxmlformats.org/drawingml/2006/table">
            <a:tbl>
              <a:tblPr>
                <a:noFill/>
                <a:tableStyleId>{4EDB4E47-8EFA-407C-89F8-463265A3EB86}</a:tableStyleId>
              </a:tblPr>
              <a:tblGrid>
                <a:gridCol w="1042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514">
                  <a:extLst>
                    <a:ext uri="{9D8B030D-6E8A-4147-A177-3AD203B41FA5}">
                      <a16:colId xmlns:a16="http://schemas.microsoft.com/office/drawing/2014/main" val="2980402152"/>
                    </a:ext>
                  </a:extLst>
                </a:gridCol>
                <a:gridCol w="1052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4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302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sng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Sl. No</a:t>
                      </a:r>
                      <a:endParaRPr sz="1100" b="1" u="sng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sng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sz="1100" b="1" u="sng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sng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</a:t>
                      </a:r>
                      <a:endParaRPr sz="1100" b="1" u="sng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sng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1100" b="1" u="sng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sz="1100" b="1" u="sng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sng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  <a:endParaRPr sz="1100" b="1" u="sng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1862667" y="16455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129756" y="96886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1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1862667" y="16455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129756" y="96886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1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1862667" y="16455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Motivation 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146756" y="9689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Gaps Identified :-</a:t>
            </a: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>
            <a:off x="1862667" y="16455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Motivation 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146756" y="9689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Are We Doing This Project?</a:t>
            </a: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>
          <a:extLst>
            <a:ext uri="{FF2B5EF4-FFF2-40B4-BE49-F238E27FC236}">
              <a16:creationId xmlns:a16="http://schemas.microsoft.com/office/drawing/2014/main" id="{C19914AA-5889-FACC-CA1C-16970425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>
            <a:extLst>
              <a:ext uri="{FF2B5EF4-FFF2-40B4-BE49-F238E27FC236}">
                <a16:creationId xmlns:a16="http://schemas.microsoft.com/office/drawing/2014/main" id="{1431DB18-C00D-DBA5-0E25-4F4913EF31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2667" y="16455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2400" b="1" dirty="0">
                <a:latin typeface="Times New Roman"/>
                <a:cs typeface="Times New Roman"/>
                <a:sym typeface="Times New Roman"/>
              </a:rPr>
              <a:t>Problem identification in relevant area/topic</a:t>
            </a:r>
            <a:b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3">
            <a:extLst>
              <a:ext uri="{FF2B5EF4-FFF2-40B4-BE49-F238E27FC236}">
                <a16:creationId xmlns:a16="http://schemas.microsoft.com/office/drawing/2014/main" id="{E63D774A-DD38-25ED-A027-774DBCDEE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6756" y="9689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144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1862667" y="16455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Problem Formulation 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5"/>
          <p:cNvSpPr txBox="1">
            <a:spLocks noGrp="1"/>
          </p:cNvSpPr>
          <p:nvPr>
            <p:ph type="body" idx="1"/>
          </p:nvPr>
        </p:nvSpPr>
        <p:spPr>
          <a:xfrm>
            <a:off x="146756" y="9689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1862667" y="16455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Project Objectives 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1"/>
          </p:nvPr>
        </p:nvSpPr>
        <p:spPr>
          <a:xfrm>
            <a:off x="129750" y="1187051"/>
            <a:ext cx="8884500" cy="3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1862667" y="16455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146756" y="9689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146756" y="104046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Alawieh, M. B., Boning, D., &amp; Pan, D. Z. (2020, July). Wafer map defect patterns classification using deep selective learning. In </a:t>
            </a:r>
            <a:r>
              <a:rPr lang="en-US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 57th ACM/IEEE Design Automation Conference (DAC)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(pp. 1-6). IEEE.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Yu, Naigong, Huaisheng Chen, Qiao Xu, Mohammad Mehedi Hasan, and Ouattara Sie. "Wafer map defect patterns classification based on a lightweight network and data augmentation." </a:t>
            </a:r>
            <a:r>
              <a:rPr lang="en-US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CAAI Transactions on Intelligence Technology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8, no. 3 (2023): 1029-1042.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Jin, Cheng Hao, Hyun-Jin Kim, Yongjun Piao, Meijing Li, and Minghao Piao. "Wafer map defect pattern classification based on convolutional neural network features and error-correcting output codes." </a:t>
            </a:r>
            <a:r>
              <a:rPr lang="en-US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Intelligent Manufacturing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31, no. 8 (2020): 1861-1875.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Wu, Ming-Ju, Jyh-Shing R. Jang, and Jui-Long Chen. "Wafer map failure pattern recognition and similarity ranking for large-scale data sets." </a:t>
            </a:r>
            <a:r>
              <a:rPr lang="en-US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Transactions on Semiconductor Manufacturing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28, no. 1 (2014): 1-12.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Nakazawa, Takeshi, and Deepak V. Kulkarni. "Wafer map defect pattern classification and image retrieval using convolutional neural network." </a:t>
            </a:r>
            <a:r>
              <a:rPr lang="en-US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Transactions on Semiconductor Manufacturing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31, no. 2 (2018): 309-314.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Kang, Seokho, Sungzoon Cho, Daewoong An, and Jaeyoung Rim. "Using wafer map features to better predict die-level failures in final test." </a:t>
            </a:r>
            <a:r>
              <a:rPr lang="en-US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Transactions on Semiconductor Manufacturing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28, no. 3 (2015): 431-437.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1862667" y="164550"/>
            <a:ext cx="50124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1"/>
          </p:nvPr>
        </p:nvSpPr>
        <p:spPr>
          <a:xfrm>
            <a:off x="146756" y="968910"/>
            <a:ext cx="8884500" cy="4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5"/>
          <p:cNvSpPr txBox="1"/>
          <p:nvPr/>
        </p:nvSpPr>
        <p:spPr>
          <a:xfrm>
            <a:off x="146750" y="834675"/>
            <a:ext cx="8884500" cy="38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Shim, Jaewoong, Seokho Kang, and Sungzoon Cho. "Active learning of convolutional neural network for cost-effective wafer map pattern classification." IEEE Transactions on Semiconductor Manufacturing 33, no. 2 (2020): 258-266.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Yuan-Fu, Yang. "A deep learning model for identification of defect patterns in semiconductor wafer map." In </a:t>
            </a:r>
            <a:r>
              <a:rPr lang="en-US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2019 30th Annual SEMI Advanced Semiconductor Manufacturing Conference (ASMC)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pp. 1-6. IEEE, 2019.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Yu, Jianbo, Zongli Shen, and Shijin Wang. "Wafer map defect recognition based on deep transfer learning-based densely connected convolutional network and deep forest." </a:t>
            </a:r>
            <a:r>
              <a:rPr lang="en-US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Applications of Artificial Intelligence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105 (2021): 104387.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Imoto, Kazunori, Tomohiro Nakai, Tsukasa Ike, Kosuke Haruki, and Yoshiyuki Sato. "A CNN-based transfer learning method for defect classification in semiconductor manufacturing." </a:t>
            </a:r>
            <a:r>
              <a:rPr lang="en-US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Transactions on Semiconductor Manufacturing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32, no. 4 (2019): 455-459.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Shin, Eunmi, and Chang D. Yoo. "Efficient convolutional neural networks for semiconductor wafer bin map classification." </a:t>
            </a:r>
            <a:r>
              <a:rPr lang="en-US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23, no. 4 (2023): 1926.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Saqlain, Muhammad, Bilguun Jargalsaikhan, and Jong Yun Lee. "A voting ensemble classifier for wafer map defect patterns identification in semiconductor manufacturing." </a:t>
            </a:r>
            <a:r>
              <a:rPr lang="en-US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Transactions on Semiconductor Manufacturing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32, no. 2 (2019): 171-182.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628</Words>
  <Application>Microsoft Office PowerPoint</Application>
  <PresentationFormat>On-screen Show (16:9)</PresentationFormat>
  <Paragraphs>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Simple Light</vt:lpstr>
      <vt:lpstr>PowerPoint Presentation</vt:lpstr>
      <vt:lpstr>Agenda</vt:lpstr>
      <vt:lpstr>Introduction to Topic  </vt:lpstr>
      <vt:lpstr>Topic relevance to courses </vt:lpstr>
      <vt:lpstr>Literature Review </vt:lpstr>
      <vt:lpstr>Literature Review </vt:lpstr>
      <vt:lpstr>Literature Review </vt:lpstr>
      <vt:lpstr>Motivation </vt:lpstr>
      <vt:lpstr>Motivation </vt:lpstr>
      <vt:lpstr>Problem identification in relevant area/topic  </vt:lpstr>
      <vt:lpstr>Problem Formulation </vt:lpstr>
      <vt:lpstr>Project Objectives 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Chandana V B</cp:lastModifiedBy>
  <cp:revision>4</cp:revision>
  <dcterms:modified xsi:type="dcterms:W3CDTF">2025-03-16T08:02:05Z</dcterms:modified>
</cp:coreProperties>
</file>